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DB2F2"/>
                </a:solidFill>
                <a:latin typeface="Calibri"/>
              </a:rPr>
              <a:t>AI-ASSISTED SOFTWARE ENGINEERING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Notification Management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D4EE"/>
                </a:solidFill>
                <a:latin typeface="Calibri"/>
              </a:rPr>
              <a:t>A production-oriented prototype demonstrating requirement understanding, task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D4EE"/>
                </a:solidFill>
                <a:latin typeface="Calibri"/>
              </a:rPr>
              <a:t>decomposition, and validation rigor across greenfield, brownfield, and ambiguous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D4EE"/>
                </a:solidFill>
                <a:latin typeface="Calibri"/>
              </a:rPr>
              <a:t>requirement engineering scenarios.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82854"/>
          </a:solidFill>
          <a:ln w="12700">
            <a:solidFill>
              <a:srgbClr val="2B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Spring Boot 3 / Java 17</a:t>
            </a:r>
          </a:p>
          <a:p>
            <a:r>
              <a:rPr sz="950">
                <a:solidFill>
                  <a:srgbClr val="9DB2F2"/>
                </a:solidFill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7091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82854"/>
          </a:solidFill>
          <a:ln w="12700">
            <a:solidFill>
              <a:srgbClr val="2B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React 19 / TypeScript</a:t>
            </a:r>
          </a:p>
          <a:p>
            <a:r>
              <a:rPr sz="950">
                <a:solidFill>
                  <a:srgbClr val="9DB2F2"/>
                </a:solidFill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091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82854"/>
          </a:solidFill>
          <a:ln w="12700">
            <a:solidFill>
              <a:srgbClr val="2B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76 passing</a:t>
            </a:r>
          </a:p>
          <a:p>
            <a:r>
              <a:rPr sz="950">
                <a:solidFill>
                  <a:srgbClr val="9DB2F2"/>
                </a:solidFill>
              </a:rPr>
              <a:t>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7091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82854"/>
          </a:solidFill>
          <a:ln w="12700">
            <a:solidFill>
              <a:srgbClr val="2B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96.4% overall</a:t>
            </a:r>
          </a:p>
          <a:p>
            <a:r>
              <a:rPr sz="950">
                <a:solidFill>
                  <a:srgbClr val="9DB2F2"/>
                </a:solidFill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C7AA8"/>
                </a:solidFill>
                <a:latin typeface="Calibri"/>
              </a:rPr>
              <a:t>Notification Management Service — Architecture &amp; Delivery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Objective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2233"/>
                </a:solidFill>
                <a:latin typeface="Calibri"/>
              </a:rPr>
              <a:t>•  Build a working prototype: alert requests in, notifications delivered through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configurable channels — engineer-led execution, AI as accelerator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2233"/>
                </a:solidFill>
                <a:latin typeface="Calibri"/>
              </a:rPr>
              <a:t>•  Demonstrate requirement understanding, decomposition, multi-step execution,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and output validation — not autonomous orchestration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2233"/>
                </a:solidFill>
                <a:latin typeface="Calibri"/>
              </a:rPr>
              <a:t>•  Three required engineering scenarios: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Greenfield — initial notification-management capability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Brownfield — multi-layer enhancement to the shipped system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Ambiguous requirement — resolve real open questions, then build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2233"/>
                </a:solidFill>
                <a:latin typeface="Calibri"/>
              </a:rPr>
              <a:t>•  Deliverables: working prototype, architecture overview, setup instructions,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16D82"/>
                </a:solidFill>
                <a:latin typeface="Calibri"/>
              </a:rPr>
              <a:t>-  testing approach/limitations/trade-offs, and this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Functional coverage (section 4)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103120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0574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4.1  Notification submission API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2606039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560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4.2  Status retrieval (overall + per recipient/channel)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108959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6323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4.3  Channel routing (requested / severity / preference)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611879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56615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4.4  Deduplication &amp; idempotency (2 boundaries, enforced)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114799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069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4.5  Retry &amp; failure classification (6 categories)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4617719"/>
            <a:ext cx="201168" cy="201168"/>
          </a:xfrm>
          <a:prstGeom prst="ellipse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57199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4.9  Audit history (no sensitive payloads)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docs/architecture-overview.md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System Components &amp; Control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72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B3D"/>
                </a:solidFill>
                <a:latin typeface="Calibri"/>
              </a:rP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Source systems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React UI (separate repo)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472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B3D"/>
                </a:solidFill>
                <a:latin typeface="Calibri"/>
              </a:rPr>
              <a:t>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78308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NotificationController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GlobalExceptionHandler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4173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AEB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147218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B3D"/>
                </a:solidFill>
                <a:latin typeface="Calibri"/>
              </a:rPr>
              <a:t>APPLICATION (use cases)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178308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Submission, Routing, Retry,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Orchestration, Aggregation, 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1472184"/>
            <a:ext cx="2752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B3D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1783080"/>
            <a:ext cx="2752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Workers, ChannelProviderRegistry,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2233"/>
                </a:solidFill>
              </a:rPr>
              <a:t>• Repositories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1874520"/>
            <a:ext cx="22860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1874520"/>
            <a:ext cx="22860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03920" y="1874520"/>
            <a:ext cx="22860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606040"/>
            <a:ext cx="11247120" cy="187451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79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B3D"/>
                </a:solidFill>
                <a:latin typeface="Calibri"/>
              </a:rPr>
              <a:t>Async delivery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1089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Submit</a:t>
            </a:r>
            <a:br/>
            <a:r>
              <a:rPr sz="1050" b="1">
                <a:solidFill>
                  <a:srgbClr val="1A2233"/>
                </a:solidFill>
              </a:rPr>
              <a:t>(sync)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31089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Event</a:t>
            </a:r>
            <a:br/>
            <a:r>
              <a:rPr sz="1050" b="1">
                <a:solidFill>
                  <a:srgbClr val="1A2233"/>
                </a:solidFill>
              </a:rPr>
              <a:t>listener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3493008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31920" y="31089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Orchestrate</a:t>
            </a:r>
            <a:br/>
            <a:r>
              <a:rPr sz="1050" b="1">
                <a:solidFill>
                  <a:srgbClr val="1A2233"/>
                </a:solidFill>
              </a:rPr>
              <a:t>(routing)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94760" y="3493008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23560" y="31089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DeliveryWorker</a:t>
            </a:r>
            <a:br/>
            <a:r>
              <a:rPr sz="1050" b="1">
                <a:solidFill>
                  <a:srgbClr val="1A2233"/>
                </a:solidFill>
              </a:rPr>
              <a:t>(poll)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60" y="3493008"/>
            <a:ext cx="22860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52360" y="3108960"/>
            <a:ext cx="1737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DeliveryDispatcher</a:t>
            </a:r>
            <a:br/>
            <a:r>
              <a:rPr sz="1050" b="1">
                <a:solidFill>
                  <a:srgbClr val="1A2233"/>
                </a:solidFill>
              </a:rPr>
              <a:t>(claim+dispatch)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3493008"/>
            <a:ext cx="3657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01200" y="3108960"/>
            <a:ext cx="1737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A2233"/>
                </a:solidFill>
              </a:rPr>
              <a:t>ChannelProvider</a:t>
            </a:r>
            <a:br/>
            <a:r>
              <a:rPr sz="1050" b="1">
                <a:solidFill>
                  <a:srgbClr val="1A2233"/>
                </a:solidFill>
              </a:rPr>
              <a:t>(Email/SMS/Push/Slack)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9720" y="3493008"/>
            <a:ext cx="41148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3977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DB-backed poll queue (not a broker) — transactional, testable, no extra infra for the prototype; see trade-off on architecture doc §6.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B3D"/>
                </a:solidFill>
                <a:latin typeface="Calibri"/>
              </a:rPr>
              <a:t>Cross-cutting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1A2233"/>
                </a:solidFill>
                <a:latin typeface="Calibri"/>
              </a:rPr>
              <a:t>•  AuditService — every accept/route/queue/attempt/succeed/fail/retry event, structured metadata only, never message bodies or credentials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1A2233"/>
                </a:solidFill>
                <a:latin typeface="Calibri"/>
              </a:rPr>
              <a:t>•  IdempotencyCleanupJob &amp; EscalationJob — scheduled, actively enforce documented policies rather than leaving them aspirational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Package layout mirrors this diagram: api / application / domain / infrastructure — see docs/architecture-overview.md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ENGINEERING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Tech Stack &amp;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5740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Java 17, Spring Boot 3.3.4 (Web, Data JPA, Validation, Actuator)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42032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SQLite (demo, file-based) / H2 (test) / PostgreSQL (prod profile)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26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2666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Flyway, versioned (V1 greenfield, V2 brownfield, V3 ambiguous)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112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Hexagonal layering, Strategy (ChannelProvider),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95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API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9592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springdoc-openapi / Swagger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Backend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48056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JUnit 5, Mockito, AssertJ, Awaitility, JaCoCo, Failsafe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65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965192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React 19, TypeScript, Vite 8, React Router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9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4ED8"/>
                </a:solidFill>
                <a:latin typeface="Calibri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449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3"/>
                </a:solidFill>
                <a:latin typeface="Calibri"/>
              </a:rPr>
              <a:t>Maven (backend), npm (frontend) — separate git repos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463040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Design principles 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Modular — hexagonal layering (api / application / domain / infrastructure);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business logic has no JPA/HTTP types leaked into it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Testable — Clock injected everywhere time matters; retry/escalation timing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externalized as config, not hardcoded, so tests run in seconds not minutes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Reliable — DB-level unique constraints back every dedup boundary, not just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application logic; optimistic-lock conflicts detected and retried, not ignored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Secure — audit trail never stores message bodies or credentials; input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validated at the API boundary; no secrets hardcoded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Scalable — pessimistic-locked claim step makes horizontal worker scale-out safe;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swap-to-broker path documented and requires no business-logic changes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Safe change management — every scenario landed with full regression passing,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real bugs found by tests fixed and documented, not shipped silently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docs/architecture-overview.md, docs/testing-strategy.md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292608"/>
          </a:xfrm>
          <a:prstGeom prst="round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source_system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severity / priority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overall_status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idempotency_key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acknowledged_at/by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escalated_at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version (optimistic lock)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606040" cy="292608"/>
          </a:xfrm>
          <a:prstGeom prst="round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notification_recipients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562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recipient_id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recipient_type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2606040" cy="292608"/>
          </a:xfrm>
          <a:prstGeom prst="round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requested_channels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562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508760"/>
            <a:ext cx="2606040" cy="292608"/>
          </a:xfrm>
          <a:prstGeom prst="roundRect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delivery_attempts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562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notification_id, recipient_id, channel (UNIQUE)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status / attempt_count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last_failure_category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next_retry_at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08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2606040" cy="292608"/>
          </a:xfrm>
          <a:prstGeom prst="round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routing_decisions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564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requested/resolved channel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reason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108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3108960"/>
            <a:ext cx="2606040" cy="292608"/>
          </a:xfrm>
          <a:prstGeom prst="round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audit_events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4564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id (PK)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action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detail (structured only)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08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3108960"/>
            <a:ext cx="2606040" cy="292608"/>
          </a:xfrm>
          <a:prstGeom prst="round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idempotency_records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564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source_system, idempotency_key (UNIQUE)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notification_id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expires_at (7d)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1089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3108960"/>
            <a:ext cx="2606040" cy="292608"/>
          </a:xfrm>
          <a:prstGeom prst="round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recipient_preferences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4564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recipient_id, channel (UNIQUE)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enabled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2233"/>
                </a:solidFill>
              </a:rPr>
              <a:t>• 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delivery_attempts unique(notification_id, recipient_id, channel) = delivery-level dedup boundary (section 4.4)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Notification Status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A2233"/>
                </a:solidFill>
              </a:rPr>
              <a:t>RECEIVED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7373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A2233"/>
                </a:solidFill>
              </a:rPr>
              <a:t>VALIDATED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057400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7373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A2233"/>
                </a:solidFill>
              </a:rPr>
              <a:t>ROUTED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2057400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0840" y="17373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A2233"/>
                </a:solidFill>
              </a:rPr>
              <a:t>QUEUED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0" y="2057400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78240" y="17373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A2233"/>
                </a:solidFill>
              </a:rPr>
              <a:t>IN_PROGRESS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1080" y="2057400"/>
            <a:ext cx="137160" cy="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37360" y="30175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027A48"/>
                </a:solidFill>
              </a:rPr>
              <a:t>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0175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FFFAEB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B54708"/>
                </a:solidFill>
              </a:rPr>
              <a:t>PARTIALLY_DELIVERED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0175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D92D20"/>
                </a:solidFill>
              </a:rPr>
              <a:t>FAILED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0175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D92D20"/>
                </a:solidFill>
              </a:rPr>
              <a:t>ESCALATED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.0" y="2377440"/>
            <a:ext cx="0.0" cy="640080"/>
          </a:xfrm>
          <a:prstGeom prst="bentConnector3">
            <a:avLst/>
          </a:prstGeom>
          <a:ln w="15875">
            <a:solidFill>
              <a:srgbClr val="616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B3D"/>
                </a:solidFill>
                <a:latin typeface="Calibri"/>
              </a:rPr>
              <a:t>Terminal side-states (from RECEIVED/VALIDATED):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2377440" cy="54864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D92D20"/>
                </a:solidFill>
              </a:rPr>
              <a:t>REJECTED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297680"/>
            <a:ext cx="2377440" cy="548640"/>
          </a:xfrm>
          <a:prstGeom prst="roundRect">
            <a:avLst>
              <a:gd name="adj" fmla="val 6000"/>
            </a:avLst>
          </a:prstGeom>
          <a:solidFill>
            <a:srgbClr val="FFFAEB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B54708"/>
                </a:solidFill>
              </a:rPr>
              <a:t>DUPLICATE_SUPPRESSED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297680"/>
            <a:ext cx="2377440" cy="548640"/>
          </a:xfrm>
          <a:prstGeom prst="roundRect">
            <a:avLst>
              <a:gd name="adj" fmla="val 6000"/>
            </a:avLst>
          </a:prstGeom>
          <a:solidFill>
            <a:srgbClr val="FFFAEB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B54708"/>
                </a:solidFill>
              </a:rPr>
              <a:t>EXPIRED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NotificationStatusAggregator recomputes DELIVERED / PARTIALLY_DELIVERED / FAILED / IN_PROGRESS live from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delivery_attempts after every outcome — and explicitly protects EXPIRED, REJECTED, and ESCALATED from being overwritten.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docs/architecture-overview.md §4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SCENARIO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Greenfield — Initial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371600" cy="411480"/>
          </a:xfrm>
          <a:prstGeom prst="roundRect">
            <a:avLst>
              <a:gd name="adj" fmla="val 6000"/>
            </a:avLst>
          </a:prstGeom>
          <a:solidFill>
            <a:srgbClr val="1E4ED8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1A2233"/>
                </a:solidFill>
                <a:latin typeface="Calibri"/>
              </a:rPr>
              <a:t>•  Decomposed into 6 units, built bottom-up: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Domain model -&gt; Submission+idempotency -&gt; Routing -&gt; Async queueing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-&gt; Delivery+retry -&gt; Status+audit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1A2233"/>
                </a:solidFill>
                <a:latin typeface="Calibri"/>
              </a:rPr>
              <a:t>•  Key decisions (documented, not assumed):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Routing: opt-out model; CRITICAL overrides preference &amp; fans out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Retry: 6 failure categories, only 3 retryable, exponential backoff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Dedup: DB unique constraint backs the boundary, not app logic alone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616D82"/>
                </a:solidFill>
                <a:latin typeface="Calibri"/>
              </a:rPr>
              <a:t>-  DB-polling worker over a broker — explicit trade-off for prototype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574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49 unit tests — routing, retry, idempotency, aggregation,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dispatcher, all provider simulation rules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7 end-to-end integration tests over real HTTP + H2 + the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616D82"/>
                </a:solidFill>
                <a:latin typeface="Calibri"/>
              </a:rPr>
              <a:t>-  actual scheduled worker (Awaitility-driven)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233"/>
                </a:solidFill>
                <a:latin typeface="Calibri"/>
              </a:rPr>
              <a:t>•  mvn verify: JaCoCo gate, 90% min on application/domain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93776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50292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92D20"/>
                </a:solidFill>
                <a:latin typeface="Calibri"/>
              </a:rPr>
              <a:t>Real bug found &amp; fixed: @Transactional silently no-ops on self-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D92D20"/>
                </a:solidFill>
                <a:latin typeface="Calibri"/>
              </a:rPr>
              <a:t>invocation (this.method()) — caught by the integration test, fixed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D92D20"/>
                </a:solidFill>
                <a:latin typeface="Calibri"/>
              </a:rPr>
              <a:t>by splitting trigger from transactional collaborator.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docs/scenarios/01-greenfield.md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SCENARIO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Brownfield — Multi-Layer Enhancement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737360" cy="411480"/>
          </a:xfrm>
          <a:prstGeom prst="roundRect">
            <a:avLst>
              <a:gd name="adj" fmla="val 6000"/>
            </a:avLst>
          </a:prstGeom>
          <a:solidFill>
            <a:srgbClr val="B54708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ENHANCE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16D82"/>
                </a:solidFill>
                <a:latin typeface="Calibri"/>
              </a:rPr>
              <a:t>Three changes landed together because they're genuinely coupled in this codebase: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3611880" cy="685800"/>
          </a:xfrm>
          <a:prstGeom prst="round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New channel</a:t>
            </a:r>
          </a:p>
          <a:p>
            <a:pPr algn="ctr"/>
            <a:r>
              <a:rPr sz="1000">
                <a:solidFill>
                  <a:srgbClr val="9DB2F2"/>
                </a:solidFill>
              </a:rPr>
              <a:t>Slack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Channel.SLACK + SlackChannelProvider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V2 migration: seed data only —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channel is VARCHAR everywhere,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no schema change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560320"/>
            <a:ext cx="3611880" cy="685800"/>
          </a:xfrm>
          <a:prstGeom prst="round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Refactor</a:t>
            </a:r>
          </a:p>
          <a:p>
            <a:pPr algn="ctr"/>
            <a:r>
              <a:rPr sz="1000">
                <a:solidFill>
                  <a:srgbClr val="9DB2F2"/>
                </a:solidFill>
              </a:rPr>
              <a:t>Provider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if/else chain -&gt; ChannelProviderRegistry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(Strategy/Registry pattern)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Adding Slack touched zero lines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of the dispatch method itself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611880" cy="685800"/>
          </a:xfrm>
          <a:prstGeom prst="round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Harden dedup</a:t>
            </a:r>
          </a:p>
          <a:p>
            <a:pPr algn="ctr"/>
            <a:r>
              <a:rPr sz="1000">
                <a:solidFill>
                  <a:srgbClr val="9DB2F2"/>
                </a:solidFill>
              </a:rPr>
              <a:t>Retention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IdempotencyCleanupJob actually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purges expired records now —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policy was documented but never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enforced in greenfield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27A48"/>
                </a:solidFill>
                <a:latin typeface="Calibri"/>
              </a:rPr>
              <a:t>Full regression: all greenfield tests pass unchanged — the refactor never touched RoutingService or NotificationSubmissionService.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docs/scenarios/02-brownfield.md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SCENARIO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Ambiguous Requirement — Escalation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920240" cy="411480"/>
          </a:xfrm>
          <a:prstGeom prst="roundRect">
            <a:avLst>
              <a:gd name="adj" fmla="val 6000"/>
            </a:avLst>
          </a:prstGeom>
          <a:solidFill>
            <a:srgbClr val="D92D20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DISAMBIGUATE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The ask, as given: “For critical alerts, if nobody acknowledges it in time, make sure it gets escalated so it doesn't get missed.”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3522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What does “acknowledged” mean?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3522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233"/>
                </a:solidFill>
                <a:latin typeface="Calibri"/>
              </a:rPr>
              <a:t>Explicit POST /acknowledge action — never inferred from delivery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30168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850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How long is “in time”?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85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233"/>
                </a:solidFill>
                <a:latin typeface="Calibri"/>
              </a:rPr>
              <a:t>Configurable threshold (15 min default), CRITICAL-only this iteration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79976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Escalate to whom / how?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34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233"/>
                </a:solidFill>
                <a:latin typeface="Calibri"/>
              </a:rPr>
              <a:t>Reuses the existing delivery pipeline — same retry/audit guarantees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9784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846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Does it repeat?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8464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233"/>
                </a:solidFill>
                <a:latin typeface="Calibri"/>
              </a:rPr>
              <a:t>No — fires once, by design, to avoid alert fatigue (documented scope cut)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D92D20"/>
                </a:solidFill>
                <a:latin typeface="Calibri"/>
              </a:rPr>
              <a:t>Real concurrency bug surfaced: optimistic-lock races on the Notification row (routing + escalation writing concurrently).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D92D20"/>
                </a:solidFill>
                <a:latin typeface="Calibri"/>
              </a:rPr>
              <a:t>Fixed with bounded retry + per-notification transaction isolation — documented as a finding, not hidden.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docs/scenarios/03-ambiguous-requirements.md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Testing, Coverage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27A48"/>
                </a:solidFill>
                <a:latin typeface="Calibri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E4ED8"/>
                </a:solidFill>
                <a:latin typeface="Calibri"/>
              </a:rPr>
              <a:t>96.4%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Overall line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B54708"/>
                </a:solidFill>
                <a:latin typeface="Calibri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JaCoCo gate (app/domain)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0876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D92D2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0574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Real bugs found &amp; fixed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9748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004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Unit tests: no Spring context, Clock.fixed() for deterministic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timing — 65 tests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Integration tests: real HTTP + H2 + Flyway + the actual scheduled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workers, Awaitility-polled — 11 tests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Deterministic simulated providers (recipientId prefixes: flaky-,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timeout-, invalid-, ratelimit-, authfail-, reject-)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Combined coverage measured across both JVMs (Surefire + Failsafe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both feed the same jacoco.exec)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69748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B3D"/>
                </a:solidFill>
                <a:latin typeface="Calibri"/>
              </a:rPr>
              <a:t>Honest limitations (not hidden)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Simulated providers, not real SES/Twilio/FCM/Slack integrations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No load/performance testing of the DB-polling worker's ceiling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No AuthN/AuthZ — explicitly out of scope for this prototype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Concurrency fixes validated against the specific races tests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produced, not an exhaustive chaos/fuzz pass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/>
              </a:rPr>
              <a:t>•  api.exception package below 90% — one dead-code defensive</a:t>
            </a:r>
          </a:p>
          <a:p>
            <a:pPr marL="320040" indent="-182880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616D82"/>
                </a:solidFill>
                <a:latin typeface="Calibri"/>
              </a:rPr>
              <a:t>-  handler, explained rather than gamed for the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docs/testing-strategy.md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UI/UX — Separate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16D82"/>
                </a:solidFill>
                <a:latin typeface="Calibri"/>
              </a:rPr>
              <a:t>notification-management-ui — its own git repository, React 19 + TypeScript + Vite, talks to the backend over HTTP/CORS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657600" cy="731520"/>
          </a:xfrm>
          <a:prstGeom prst="round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Dashboard</a:t>
            </a:r>
          </a:p>
          <a:p>
            <a:pPr algn="ctr"/>
            <a:r>
              <a:rPr sz="1000">
                <a:solidFill>
                  <a:srgbClr val="CDD6EE"/>
                </a:solidFill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Recent notifications, newest first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Auto-refresh every 4s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Status + severity badges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Stat tiles (delivered / in-progress / failed)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657600" cy="731520"/>
          </a:xfrm>
          <a:prstGeom prst="round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Submit</a:t>
            </a:r>
          </a:p>
          <a:p>
            <a:pPr algn="ctr"/>
            <a:r>
              <a:rPr sz="1000">
                <a:solidFill>
                  <a:srgbClr val="CDD6EE"/>
                </a:solidFill>
              </a:rPr>
              <a:t>/submit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718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Full request shape: recipients,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channels, idempotency key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Demo recipient-id prefix cheat-sheet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for exercising retry/failure paths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657600" cy="731520"/>
          </a:xfrm>
          <a:prstGeom prst="round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Detail</a:t>
            </a:r>
          </a:p>
          <a:p>
            <a:pPr algn="ctr"/>
            <a:r>
              <a:rPr sz="1000">
                <a:solidFill>
                  <a:srgbClr val="CDD6EE"/>
                </a:solidFill>
              </a:rPr>
              <a:t>/notifications/:id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718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Live-polls every 2s until settled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Per-recipient/per-channel delivery table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1A2233"/>
                </a:solidFill>
                <a:latin typeface="Calibri"/>
              </a:rPr>
              <a:t>•  Acknowledge action (escalation scenario)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27A48"/>
                </a:solidFill>
                <a:latin typeface="Calibri"/>
              </a:rPr>
              <a:t>Verified end-to-end against a running backend: submit -&gt; async retry -&gt; DELIVERED, CRITICAL fan-out to all 4 channels,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027A48"/>
                </a:solidFill>
                <a:latin typeface="Calibri"/>
              </a:rPr>
              <a:t>acknowledge, and the dashboard list — via the exact HTTP requests the UI issues, including a live CORS preflight 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notification-management-ui/README.md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ED8"/>
                </a:solidFill>
                <a:latin typeface="Calibri"/>
              </a:rPr>
              <a:t>ENGINEERING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B3D"/>
                </a:solidFill>
                <a:latin typeface="Calibri"/>
              </a:rPr>
              <a:t>Trade-offs &amp; Production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1E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4ED8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4ED8"/>
                </a:solidFill>
                <a:latin typeface="Calibri"/>
              </a:rPr>
              <a:t>WHY (PROTOTYPE)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4ED8"/>
                </a:solidFill>
                <a:latin typeface="Calibri"/>
              </a:rPr>
              <a:t>PRODUCTION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B3D"/>
                </a:solidFill>
                <a:latin typeface="Calibri"/>
              </a:rPr>
              <a:t>DB-polling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93392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233"/>
                </a:solidFill>
                <a:latin typeface="Calibri"/>
              </a:rPr>
              <a:t>No broker infra to run/explain; fully testable with 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93392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Swap to Kafka/SQS consumer — dispatch logic already isolated, zero business-logic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9504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B3D"/>
                </a:solidFill>
                <a:latin typeface="Calibri"/>
              </a:rPr>
              <a:t>Simulated channel 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9504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233"/>
                </a:solidFill>
                <a:latin typeface="Calibri"/>
              </a:rPr>
              <a:t>CI-safe, deterministic, no external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889504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Implement ChannelProvider for real SES/Twilio/FCM/Slack — one class 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12464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85616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B3D"/>
                </a:solidFill>
                <a:latin typeface="Calibri"/>
              </a:rPr>
              <a:t>Single mutable Notification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785616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233"/>
                </a:solidFill>
                <a:latin typeface="Calibri"/>
              </a:rPr>
              <a:t>Simple aggregate, one place to look up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785616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Split volatile per-worker state into separate rows if contention grows at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81728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B3D"/>
                </a:solidFill>
                <a:latin typeface="Calibri"/>
              </a:rPr>
              <a:t>No AuthN/AuthZ in the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81728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233"/>
                </a:solidFill>
                <a:latin typeface="Calibri"/>
              </a:rPr>
              <a:t>Keeps it standalone-runnable for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68172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Front with the org's gateway / OAuth2 resource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04688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E2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577840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B3D"/>
                </a:solidFill>
                <a:latin typeface="Calibri"/>
              </a:rPr>
              <a:t>Escalation fires once, no re-page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57784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A2233"/>
                </a:solidFill>
                <a:latin typeface="Calibri"/>
              </a:rPr>
              <a:t>Avoids alert fatigue by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5577840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16D82"/>
                </a:solidFill>
                <a:latin typeface="Calibri"/>
              </a:rPr>
              <a:t>On-call rotation / repeated paging integration is a scoped, flagged extension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docs/architecture-overview.md §6, §11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16D82"/>
                </a:solidFill>
                <a:latin typeface="Calibri"/>
              </a:rPr>
              <a:t>Schwab 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B2F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Three scenarios. One coherent, tested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E4E9F7"/>
                </a:solidFill>
                <a:latin typeface="Calibri"/>
              </a:rPr>
              <a:t>•  Every functional requirement in section 4 implemented and tested, not just described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E4E9F7"/>
                </a:solidFill>
                <a:latin typeface="Calibri"/>
              </a:rPr>
              <a:t>•  Each design decision documented with its rationale — reviewable, not just asserted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E4E9F7"/>
                </a:solidFill>
                <a:latin typeface="Calibri"/>
              </a:rPr>
              <a:t>•  Two real bugs found by validation and fixed, with the finding kept in the docs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E4E9F7"/>
                </a:solidFill>
                <a:latin typeface="Calibri"/>
              </a:rPr>
              <a:t>•  Runnable end-to-end: backend, separate UI, full test suite, all in this repo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943600"/>
            <a:ext cx="10515600" cy="19050"/>
          </a:xfrm>
          <a:prstGeom prst="roundRect">
            <a:avLst>
              <a:gd name="adj" fmla="val 6000"/>
            </a:avLst>
          </a:prstGeom>
          <a:solidFill>
            <a:srgbClr val="2B3D73"/>
          </a:solidFill>
          <a:ln w="12700">
            <a:solidFill>
              <a:srgbClr val="2B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2F2"/>
                </a:solidFill>
                <a:latin typeface="Calibri"/>
              </a:rPr>
              <a:t>EXECUTION_GUIDE.md  ·  docs/architecture-overview.md  ·  docs/scenarios/  ·  docs/testing-strategy.md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