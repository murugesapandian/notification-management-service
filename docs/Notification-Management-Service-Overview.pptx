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89320"/>
            <a:ext cx="12191695" cy="54864"/>
          </a:xfrm>
          <a:prstGeom prst="rect">
            <a:avLst/>
          </a:prstGeom>
          <a:solidFill>
            <a:srgbClr val="1E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DB2F2"/>
                </a:solidFill>
                <a:latin typeface="Calibri"/>
              </a:rPr>
              <a:t>AI-ASSISTED SOFTWARE ENGINEERING ASSIGNMENT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Calibri"/>
              </a:rPr>
              <a:t>Notification Management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9D4EE"/>
                </a:solidFill>
                <a:latin typeface="Calibri"/>
              </a:rPr>
              <a:t>A production-oriented prototype demonstrating requirement understanding, task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C9D4EE"/>
                </a:solidFill>
                <a:latin typeface="Calibri"/>
              </a:rPr>
              <a:t>decomposition, and validation rigor across greenfield, brownfield, and ambiguous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C9D4EE"/>
                </a:solidFill>
                <a:latin typeface="Calibri"/>
              </a:rPr>
              <a:t>requirement engineering scenarios.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709160"/>
            <a:ext cx="2377440" cy="868680"/>
          </a:xfrm>
          <a:prstGeom prst="roundRect">
            <a:avLst>
              <a:gd name="adj" fmla="val 6000"/>
            </a:avLst>
          </a:prstGeom>
          <a:solidFill>
            <a:srgbClr val="182854"/>
          </a:solidFill>
          <a:ln w="12700">
            <a:solidFill>
              <a:srgbClr val="2B3D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Spring Boot 3 / Java 17</a:t>
            </a:r>
          </a:p>
          <a:p>
            <a:r>
              <a:rPr sz="950">
                <a:solidFill>
                  <a:srgbClr val="9DB2F2"/>
                </a:solidFill>
              </a:rPr>
              <a:t>BACKEND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4709160"/>
            <a:ext cx="2377440" cy="868680"/>
          </a:xfrm>
          <a:prstGeom prst="roundRect">
            <a:avLst>
              <a:gd name="adj" fmla="val 6000"/>
            </a:avLst>
          </a:prstGeom>
          <a:solidFill>
            <a:srgbClr val="182854"/>
          </a:solidFill>
          <a:ln w="12700">
            <a:solidFill>
              <a:srgbClr val="2B3D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React 19 / TypeScript</a:t>
            </a:r>
          </a:p>
          <a:p>
            <a:r>
              <a:rPr sz="950">
                <a:solidFill>
                  <a:srgbClr val="9DB2F2"/>
                </a:solidFill>
              </a:rPr>
              <a:t>FRONTEND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709160"/>
            <a:ext cx="2377440" cy="868680"/>
          </a:xfrm>
          <a:prstGeom prst="roundRect">
            <a:avLst>
              <a:gd name="adj" fmla="val 6000"/>
            </a:avLst>
          </a:prstGeom>
          <a:solidFill>
            <a:srgbClr val="182854"/>
          </a:solidFill>
          <a:ln w="12700">
            <a:solidFill>
              <a:srgbClr val="2B3D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76 passing</a:t>
            </a:r>
          </a:p>
          <a:p>
            <a:r>
              <a:rPr sz="950">
                <a:solidFill>
                  <a:srgbClr val="9DB2F2"/>
                </a:solidFill>
              </a:rPr>
              <a:t>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4709160"/>
            <a:ext cx="2377440" cy="868680"/>
          </a:xfrm>
          <a:prstGeom prst="roundRect">
            <a:avLst>
              <a:gd name="adj" fmla="val 6000"/>
            </a:avLst>
          </a:prstGeom>
          <a:solidFill>
            <a:srgbClr val="182854"/>
          </a:solidFill>
          <a:ln w="12700">
            <a:solidFill>
              <a:srgbClr val="2B3D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96.4% overall</a:t>
            </a:r>
          </a:p>
          <a:p>
            <a:r>
              <a:rPr sz="950">
                <a:solidFill>
                  <a:srgbClr val="9DB2F2"/>
                </a:solidFill>
              </a:rPr>
              <a:t>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C7AA8"/>
                </a:solidFill>
                <a:latin typeface="Calibri"/>
              </a:rPr>
              <a:t>Notification Management Service — Architecture &amp; Delivery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4ED8"/>
                </a:solidFill>
                <a:latin typeface="Calibri"/>
              </a:rPr>
              <a:t>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1B3D"/>
                </a:solidFill>
                <a:latin typeface="Calibri"/>
              </a:rPr>
              <a:t>Objective &amp;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1E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1A2233"/>
                </a:solidFill>
                <a:latin typeface="Calibri"/>
              </a:rPr>
              <a:t>•  Build a working prototype: alert requests in, notifications delivered through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616D82"/>
                </a:solidFill>
                <a:latin typeface="Calibri"/>
              </a:rPr>
              <a:t>-  configurable channels — engineer-led execution, AI as accelerator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1A2233"/>
                </a:solidFill>
                <a:latin typeface="Calibri"/>
              </a:rPr>
              <a:t>•  Demonstrate requirement understanding, decomposition, multi-step execution,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616D82"/>
                </a:solidFill>
                <a:latin typeface="Calibri"/>
              </a:rPr>
              <a:t>-  and output validation — not autonomous orchestration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1A2233"/>
                </a:solidFill>
                <a:latin typeface="Calibri"/>
              </a:rPr>
              <a:t>•  Three required engineering scenarios: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616D82"/>
                </a:solidFill>
                <a:latin typeface="Calibri"/>
              </a:rPr>
              <a:t>-  Greenfield — initial notification-management capability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616D82"/>
                </a:solidFill>
                <a:latin typeface="Calibri"/>
              </a:rPr>
              <a:t>-  Brownfield — multi-layer enhancement to the shipped system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616D82"/>
                </a:solidFill>
                <a:latin typeface="Calibri"/>
              </a:rPr>
              <a:t>-  Ambiguous requirement — resolve real open questions, then build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1A2233"/>
                </a:solidFill>
                <a:latin typeface="Calibri"/>
              </a:rPr>
              <a:t>•  Deliverables: working prototype, architecture overview, setup instructions,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616D82"/>
                </a:solidFill>
                <a:latin typeface="Calibri"/>
              </a:rPr>
              <a:t>-  testing approach/limitations/trade-offs, and this deck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08760"/>
            <a:ext cx="5212080" cy="44805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691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B3D"/>
                </a:solidFill>
                <a:latin typeface="Calibri"/>
              </a:rPr>
              <a:t>Functional coverage (section 4)</a:t>
            </a:r>
          </a:p>
        </p:txBody>
      </p:sp>
      <p:sp>
        <p:nvSpPr>
          <p:cNvPr id="9" name="Oval 8"/>
          <p:cNvSpPr/>
          <p:nvPr/>
        </p:nvSpPr>
        <p:spPr>
          <a:xfrm>
            <a:off x="6675120" y="2103120"/>
            <a:ext cx="201168" cy="201168"/>
          </a:xfrm>
          <a:prstGeom prst="ellipse">
            <a:avLst/>
          </a:prstGeom>
          <a:solidFill>
            <a:srgbClr val="027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05740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4.1  Notification submission API</a:t>
            </a:r>
          </a:p>
        </p:txBody>
      </p:sp>
      <p:sp>
        <p:nvSpPr>
          <p:cNvPr id="11" name="Oval 10"/>
          <p:cNvSpPr/>
          <p:nvPr/>
        </p:nvSpPr>
        <p:spPr>
          <a:xfrm>
            <a:off x="6675120" y="2606039"/>
            <a:ext cx="201168" cy="201168"/>
          </a:xfrm>
          <a:prstGeom prst="ellipse">
            <a:avLst/>
          </a:prstGeom>
          <a:solidFill>
            <a:srgbClr val="027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256032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4.2  Status retrieval (overall + per recipient/channel)</a:t>
            </a:r>
          </a:p>
        </p:txBody>
      </p:sp>
      <p:sp>
        <p:nvSpPr>
          <p:cNvPr id="13" name="Oval 12"/>
          <p:cNvSpPr/>
          <p:nvPr/>
        </p:nvSpPr>
        <p:spPr>
          <a:xfrm>
            <a:off x="6675120" y="3108959"/>
            <a:ext cx="201168" cy="201168"/>
          </a:xfrm>
          <a:prstGeom prst="ellipse">
            <a:avLst/>
          </a:prstGeom>
          <a:solidFill>
            <a:srgbClr val="027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063239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4.3  Channel routing (requested / severity / preference)</a:t>
            </a:r>
          </a:p>
        </p:txBody>
      </p:sp>
      <p:sp>
        <p:nvSpPr>
          <p:cNvPr id="15" name="Oval 14"/>
          <p:cNvSpPr/>
          <p:nvPr/>
        </p:nvSpPr>
        <p:spPr>
          <a:xfrm>
            <a:off x="6675120" y="3611879"/>
            <a:ext cx="201168" cy="201168"/>
          </a:xfrm>
          <a:prstGeom prst="ellipse">
            <a:avLst/>
          </a:prstGeom>
          <a:solidFill>
            <a:srgbClr val="027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3566159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4.4  Deduplication &amp; idempotency (2 boundaries, enforced)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0" y="4114799"/>
            <a:ext cx="201168" cy="201168"/>
          </a:xfrm>
          <a:prstGeom prst="ellipse">
            <a:avLst/>
          </a:prstGeom>
          <a:solidFill>
            <a:srgbClr val="027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069079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4.5  Retry &amp; failure classification (6 categories)</a:t>
            </a:r>
          </a:p>
        </p:txBody>
      </p:sp>
      <p:sp>
        <p:nvSpPr>
          <p:cNvPr id="19" name="Oval 18"/>
          <p:cNvSpPr/>
          <p:nvPr/>
        </p:nvSpPr>
        <p:spPr>
          <a:xfrm>
            <a:off x="6675120" y="4617719"/>
            <a:ext cx="201168" cy="201168"/>
          </a:xfrm>
          <a:prstGeom prst="ellipse">
            <a:avLst/>
          </a:prstGeom>
          <a:solidFill>
            <a:srgbClr val="027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4571999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4.9  Audit history (no sensitive payloads)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16D82"/>
                </a:solidFill>
                <a:latin typeface="Calibri"/>
              </a:rPr>
              <a:t>docs/architecture-overview.md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16D82"/>
                </a:solidFill>
                <a:latin typeface="Calibri"/>
              </a:rPr>
              <a:t>Schwab Internal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4ED8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1B3D"/>
                </a:solidFill>
                <a:latin typeface="Calibri"/>
              </a:rPr>
              <a:t>System Components &amp; Control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1E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EEF1F6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7218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F1B3D"/>
                </a:solidFill>
                <a:latin typeface="Calibri"/>
              </a:rPr>
              <a:t>CLIENTS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83080"/>
            <a:ext cx="21579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2233"/>
                </a:solidFill>
              </a:rPr>
              <a:t>• Source systems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2233"/>
                </a:solidFill>
              </a:rPr>
              <a:t>• React UI (separate repo)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141732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72968" y="147218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F1B3D"/>
                </a:solidFill>
                <a:latin typeface="Calibri"/>
              </a:rPr>
              <a:t>API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1783080"/>
            <a:ext cx="21579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2233"/>
                </a:solidFill>
              </a:rPr>
              <a:t>• NotificationController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2233"/>
                </a:solidFill>
              </a:rPr>
              <a:t>• GlobalExceptionHandler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1417320"/>
            <a:ext cx="2834640" cy="914400"/>
          </a:xfrm>
          <a:prstGeom prst="roundRect">
            <a:avLst>
              <a:gd name="adj" fmla="val 6000"/>
            </a:avLst>
          </a:prstGeom>
          <a:solidFill>
            <a:srgbClr val="FFFAEB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79008" y="1472184"/>
            <a:ext cx="26151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F1B3D"/>
                </a:solidFill>
                <a:latin typeface="Calibri"/>
              </a:rPr>
              <a:t>APPLICATION (use cases)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79008" y="1783080"/>
            <a:ext cx="26151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2233"/>
                </a:solidFill>
              </a:rPr>
              <a:t>• Submission, Routing, Retry,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2233"/>
                </a:solidFill>
              </a:rPr>
              <a:t>• Orchestration, Aggregation, 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32520" y="1417320"/>
            <a:ext cx="2971800" cy="914400"/>
          </a:xfrm>
          <a:prstGeom prst="roundRect">
            <a:avLst>
              <a:gd name="adj" fmla="val 6000"/>
            </a:avLst>
          </a:prstGeom>
          <a:solidFill>
            <a:srgbClr val="FEF3F2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42248" y="1472184"/>
            <a:ext cx="2752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F1B3D"/>
                </a:solidFill>
                <a:latin typeface="Calibri"/>
              </a:rPr>
              <a:t>INFRASTRUCTURE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42248" y="1783080"/>
            <a:ext cx="27523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2233"/>
                </a:solidFill>
              </a:rPr>
              <a:t>• Workers, ChannelProviderRegistry,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2233"/>
                </a:solidFill>
              </a:rPr>
              <a:t>• Repositories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834640" y="1874520"/>
            <a:ext cx="228600" cy="0"/>
          </a:xfrm>
          <a:prstGeom prst="bentConnector3">
            <a:avLst/>
          </a:prstGeom>
          <a:ln w="15875">
            <a:solidFill>
              <a:srgbClr val="616D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440680" y="1874520"/>
            <a:ext cx="228600" cy="0"/>
          </a:xfrm>
          <a:prstGeom prst="bentConnector3">
            <a:avLst/>
          </a:prstGeom>
          <a:ln w="15875">
            <a:solidFill>
              <a:srgbClr val="616D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503920" y="1874520"/>
            <a:ext cx="228600" cy="0"/>
          </a:xfrm>
          <a:prstGeom prst="bentConnector3">
            <a:avLst/>
          </a:prstGeom>
          <a:ln w="15875">
            <a:solidFill>
              <a:srgbClr val="616D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57200" y="2606040"/>
            <a:ext cx="11247120" cy="1874519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6791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1B3D"/>
                </a:solidFill>
                <a:latin typeface="Calibri"/>
              </a:rPr>
              <a:t>Async delivery pipeline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108960"/>
            <a:ext cx="146304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50" b="1">
                <a:solidFill>
                  <a:srgbClr val="1A2233"/>
                </a:solidFill>
              </a:rPr>
              <a:t>Submit</a:t>
            </a:r>
            <a:br/>
            <a:r>
              <a:rPr sz="1050" b="1">
                <a:solidFill>
                  <a:srgbClr val="1A2233"/>
                </a:solidFill>
              </a:rPr>
              <a:t>(sync)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31720" y="3108960"/>
            <a:ext cx="146304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50" b="1">
                <a:solidFill>
                  <a:srgbClr val="1A2233"/>
                </a:solidFill>
              </a:rPr>
              <a:t>Event</a:t>
            </a:r>
            <a:br/>
            <a:r>
              <a:rPr sz="1050" b="1">
                <a:solidFill>
                  <a:srgbClr val="1A2233"/>
                </a:solidFill>
              </a:rPr>
              <a:t>listener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194560" y="3493008"/>
            <a:ext cx="137160" cy="0"/>
          </a:xfrm>
          <a:prstGeom prst="bentConnector3">
            <a:avLst/>
          </a:prstGeom>
          <a:ln w="15875">
            <a:solidFill>
              <a:srgbClr val="616D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931920" y="3108960"/>
            <a:ext cx="146304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50" b="1">
                <a:solidFill>
                  <a:srgbClr val="1A2233"/>
                </a:solidFill>
              </a:rPr>
              <a:t>Orchestrate</a:t>
            </a:r>
            <a:br/>
            <a:r>
              <a:rPr sz="1050" b="1">
                <a:solidFill>
                  <a:srgbClr val="1A2233"/>
                </a:solidFill>
              </a:rPr>
              <a:t>(routing)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794760" y="3493008"/>
            <a:ext cx="137160" cy="0"/>
          </a:xfrm>
          <a:prstGeom prst="bentConnector3">
            <a:avLst/>
          </a:prstGeom>
          <a:ln w="15875">
            <a:solidFill>
              <a:srgbClr val="616D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623560" y="3108960"/>
            <a:ext cx="146304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50" b="1">
                <a:solidFill>
                  <a:srgbClr val="1A2233"/>
                </a:solidFill>
              </a:rPr>
              <a:t>DeliveryWorker</a:t>
            </a:r>
            <a:br/>
            <a:r>
              <a:rPr sz="1050" b="1">
                <a:solidFill>
                  <a:srgbClr val="1A2233"/>
                </a:solidFill>
              </a:rPr>
              <a:t>(poll)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394960" y="3493008"/>
            <a:ext cx="228600" cy="0"/>
          </a:xfrm>
          <a:prstGeom prst="bentConnector3">
            <a:avLst/>
          </a:prstGeom>
          <a:ln w="15875">
            <a:solidFill>
              <a:srgbClr val="616D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452360" y="3108960"/>
            <a:ext cx="17373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50" b="1">
                <a:solidFill>
                  <a:srgbClr val="1A2233"/>
                </a:solidFill>
              </a:rPr>
              <a:t>DeliveryDispatcher</a:t>
            </a:r>
            <a:br/>
            <a:r>
              <a:rPr sz="1050" b="1">
                <a:solidFill>
                  <a:srgbClr val="1A2233"/>
                </a:solidFill>
              </a:rPr>
              <a:t>(claim+dispatch)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086600" y="3493008"/>
            <a:ext cx="365760" cy="0"/>
          </a:xfrm>
          <a:prstGeom prst="bentConnector3">
            <a:avLst/>
          </a:prstGeom>
          <a:ln w="15875">
            <a:solidFill>
              <a:srgbClr val="616D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601200" y="3108960"/>
            <a:ext cx="17373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50" b="1">
                <a:solidFill>
                  <a:srgbClr val="1A2233"/>
                </a:solidFill>
              </a:rPr>
              <a:t>ChannelProvider</a:t>
            </a:r>
            <a:br/>
            <a:r>
              <a:rPr sz="1050" b="1">
                <a:solidFill>
                  <a:srgbClr val="1A2233"/>
                </a:solidFill>
              </a:rPr>
              <a:t>(Email/SMS/Push/Slack)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89720" y="3493008"/>
            <a:ext cx="411480" cy="0"/>
          </a:xfrm>
          <a:prstGeom prst="bentConnector3">
            <a:avLst/>
          </a:prstGeom>
          <a:ln w="15875">
            <a:solidFill>
              <a:srgbClr val="616D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40080" y="39776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16D82"/>
                </a:solidFill>
                <a:latin typeface="Calibri"/>
              </a:rPr>
              <a:t>DB-backed poll queue (not a broker) — transactional, testable, no extra infra for the prototype; see trade-off on architecture doc §6.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78231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1B3D"/>
                </a:solidFill>
                <a:latin typeface="Calibri"/>
              </a:rPr>
              <a:t>Cross-cutting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074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1A2233"/>
                </a:solidFill>
                <a:latin typeface="Calibri"/>
              </a:rPr>
              <a:t>•  AuditService — every accept/route/queue/attempt/succeed/fail/retry event, structured metadata only, never message bodies or credentials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1A2233"/>
                </a:solidFill>
                <a:latin typeface="Calibri"/>
              </a:rPr>
              <a:t>•  IdempotencyCleanupJob &amp; EscalationJob — scheduled, actively enforce documented policies rather than leaving them aspirational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16D82"/>
                </a:solidFill>
                <a:latin typeface="Calibri"/>
              </a:rPr>
              <a:t>Package layout mirrors this diagram: api / application / domain / infrastructure — see docs/architecture-overview.md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16D82"/>
                </a:solidFill>
                <a:latin typeface="Calibri"/>
              </a:rPr>
              <a:t>Schwab Internal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4ED8"/>
                </a:solidFill>
                <a:latin typeface="Calibri"/>
              </a:rPr>
              <a:t>ENGINEERING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1B3D"/>
                </a:solidFill>
                <a:latin typeface="Calibri"/>
              </a:rPr>
              <a:t>Tech Stack &amp; Design Principles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1E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B3D"/>
                </a:solidFill>
                <a:latin typeface="Calibri"/>
              </a:rPr>
              <a:t>Tech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E4ED8"/>
                </a:solidFill>
                <a:latin typeface="Calibri"/>
              </a:rP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057400"/>
            <a:ext cx="3794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3"/>
                </a:solidFill>
                <a:latin typeface="Calibri"/>
              </a:rPr>
              <a:t>Java 17, Spring Boot 3.3.4 (Web, Data JPA, Validation, Actuator)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4203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E4ED8"/>
                </a:solidFill>
                <a:latin typeface="Calibri"/>
              </a:rPr>
              <a:t>Database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542032"/>
            <a:ext cx="3794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3"/>
                </a:solidFill>
                <a:latin typeface="Calibri"/>
              </a:rPr>
              <a:t>H2 (dev/test, Postgres-compatible mode) / PostgreSQL (prod profile)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2666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E4ED8"/>
                </a:solidFill>
                <a:latin typeface="Calibri"/>
              </a:rPr>
              <a:t>Migrations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3026664"/>
            <a:ext cx="3794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3"/>
                </a:solidFill>
                <a:latin typeface="Calibri"/>
              </a:rPr>
              <a:t>Flyway, versioned (V1 greenfield, V2 brownfield, V3 ambiguous)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1129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E4ED8"/>
                </a:solidFill>
                <a:latin typeface="Calibri"/>
              </a:rPr>
              <a:t>Patterns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511296"/>
            <a:ext cx="3794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3"/>
                </a:solidFill>
                <a:latin typeface="Calibri"/>
              </a:rPr>
              <a:t>Hexagonal layering, Strategy (ChannelProvider), Registry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99592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E4ED8"/>
                </a:solidFill>
                <a:latin typeface="Calibri"/>
              </a:rPr>
              <a:t>API docs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995928"/>
            <a:ext cx="3794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3"/>
                </a:solidFill>
                <a:latin typeface="Calibri"/>
              </a:rPr>
              <a:t>springdoc-openapi / Swagger 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4805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E4ED8"/>
                </a:solidFill>
                <a:latin typeface="Calibri"/>
              </a:rPr>
              <a:t>Backend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4480560"/>
            <a:ext cx="3794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3"/>
                </a:solidFill>
                <a:latin typeface="Calibri"/>
              </a:rPr>
              <a:t>JUnit 5, Mockito, AssertJ, Awaitility, JaCoCo, Failsafe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96519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E4ED8"/>
                </a:solidFill>
                <a:latin typeface="Calibri"/>
              </a:rPr>
              <a:t>Frontend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4965192"/>
            <a:ext cx="3794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3"/>
                </a:solidFill>
                <a:latin typeface="Calibri"/>
              </a:rPr>
              <a:t>React 19, TypeScript, Vite 8, React Router 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44982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E4ED8"/>
                </a:solidFill>
                <a:latin typeface="Calibri"/>
              </a:rPr>
              <a:t>Build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5449824"/>
            <a:ext cx="3794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3"/>
                </a:solidFill>
                <a:latin typeface="Calibri"/>
              </a:rPr>
              <a:t>Maven (backend), npm (frontend) — separate git repos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1463040"/>
            <a:ext cx="534924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B3D"/>
                </a:solidFill>
                <a:latin typeface="Calibri"/>
              </a:rPr>
              <a:t>Design principles applied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201168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233"/>
                </a:solidFill>
                <a:latin typeface="Calibri"/>
              </a:rPr>
              <a:t>•  Modular — hexagonal layering (api / application / domain / infrastructure);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616D82"/>
                </a:solidFill>
                <a:latin typeface="Calibri"/>
              </a:rPr>
              <a:t>-  business logic has no JPA/HTTP types leaked into it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233"/>
                </a:solidFill>
                <a:latin typeface="Calibri"/>
              </a:rPr>
              <a:t>•  Testable — Clock injected everywhere time matters; retry/escalation timing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616D82"/>
                </a:solidFill>
                <a:latin typeface="Calibri"/>
              </a:rPr>
              <a:t>-  externalized as config, not hardcoded, so tests run in seconds not minutes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233"/>
                </a:solidFill>
                <a:latin typeface="Calibri"/>
              </a:rPr>
              <a:t>•  Reliable — DB-level unique constraints back every dedup boundary, not just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616D82"/>
                </a:solidFill>
                <a:latin typeface="Calibri"/>
              </a:rPr>
              <a:t>-  application logic; optimistic-lock conflicts detected and retried, not ignored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233"/>
                </a:solidFill>
                <a:latin typeface="Calibri"/>
              </a:rPr>
              <a:t>•  Secure — audit trail never stores message bodies or credentials; input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616D82"/>
                </a:solidFill>
                <a:latin typeface="Calibri"/>
              </a:rPr>
              <a:t>-  validated at the API boundary; no secrets hardcoded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233"/>
                </a:solidFill>
                <a:latin typeface="Calibri"/>
              </a:rPr>
              <a:t>•  Scalable — pessimistic-locked claim step makes horizontal worker scale-out safe;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616D82"/>
                </a:solidFill>
                <a:latin typeface="Calibri"/>
              </a:rPr>
              <a:t>-  swap-to-broker path documented and requires no business-logic changes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233"/>
                </a:solidFill>
                <a:latin typeface="Calibri"/>
              </a:rPr>
              <a:t>•  Safe change management — every scenario landed with full regression passing,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616D82"/>
                </a:solidFill>
                <a:latin typeface="Calibri"/>
              </a:rPr>
              <a:t>-  real bugs found by tests fixed and documented, not shipped silently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16D82"/>
                </a:solidFill>
                <a:latin typeface="Calibri"/>
              </a:rPr>
              <a:t>docs/architecture-overview.md, docs/testing-strategy.md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16D82"/>
                </a:solidFill>
                <a:latin typeface="Calibri"/>
              </a:rPr>
              <a:t>Schwab Internal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4ED8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1B3D"/>
                </a:solidFill>
                <a:latin typeface="Calibri"/>
              </a:rPr>
              <a:t>Data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1E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50876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2606040" cy="292608"/>
          </a:xfrm>
          <a:prstGeom prst="roundRect">
            <a:avLst/>
          </a:prstGeom>
          <a:solidFill>
            <a:srgbClr val="1E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notifications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2"/>
            <a:ext cx="24231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id (PK)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source_system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severity / priority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overall_status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idempotency_key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acknowledged_at/by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escalated_at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version (optimistic lock)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50876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83280" y="1508760"/>
            <a:ext cx="2606040" cy="292608"/>
          </a:xfrm>
          <a:prstGeom prst="roundRect">
            <a:avLst/>
          </a:prstGeom>
          <a:solidFill>
            <a:srgbClr val="616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notification_recipients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856232"/>
            <a:ext cx="24231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id (PK)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notification_id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recipient_id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recipient_type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0876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1508760"/>
            <a:ext cx="2606040" cy="292608"/>
          </a:xfrm>
          <a:prstGeom prst="roundRect">
            <a:avLst/>
          </a:prstGeom>
          <a:solidFill>
            <a:srgbClr val="616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requested_channels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856232"/>
            <a:ext cx="24231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id (PK)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notification_id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channel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50876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0" y="1508760"/>
            <a:ext cx="2606040" cy="292608"/>
          </a:xfrm>
          <a:prstGeom prst="roundRect">
            <a:avLst/>
          </a:prstGeom>
          <a:solidFill>
            <a:srgbClr val="D92D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delivery_attempts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1856232"/>
            <a:ext cx="24231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id (PK)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notification_id, recipient_id, channel (UNIQUE)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status / attempt_count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last_failure_category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next_retry_at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version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10896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" y="3108960"/>
            <a:ext cx="2606040" cy="292608"/>
          </a:xfrm>
          <a:prstGeom prst="roundRect">
            <a:avLst/>
          </a:prstGeom>
          <a:solidFill>
            <a:srgbClr val="616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routing_decisions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456432"/>
            <a:ext cx="24231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id (PK)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notification_id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requested/resolved channel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reason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3280" y="310896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383280" y="3108960"/>
            <a:ext cx="2606040" cy="292608"/>
          </a:xfrm>
          <a:prstGeom prst="roundRect">
            <a:avLst/>
          </a:prstGeom>
          <a:solidFill>
            <a:srgbClr val="616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audit_events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3456432"/>
            <a:ext cx="24231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id (PK)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notification_id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action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detail (structured only)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10896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63640" y="3108960"/>
            <a:ext cx="2606040" cy="292608"/>
          </a:xfrm>
          <a:prstGeom prst="round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idempotency_records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456432"/>
            <a:ext cx="24231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source_system, idempotency_key (UNIQUE)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notification_id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expires_at (7d)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0" y="310896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44000" y="3108960"/>
            <a:ext cx="2606040" cy="292608"/>
          </a:xfrm>
          <a:prstGeom prst="roundRect">
            <a:avLst/>
          </a:prstGeom>
          <a:solidFill>
            <a:srgbClr val="616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recipient_preferences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456432"/>
            <a:ext cx="24231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recipient_id, channel (UNIQUE)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enabled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233"/>
                </a:solidFill>
              </a:rPr>
              <a:t>• rank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16D82"/>
                </a:solidFill>
                <a:latin typeface="Calibri"/>
              </a:rPr>
              <a:t>delivery_attempts unique(notification_id, recipient_id, channel) = delivery-level dedup boundary (section 4.4)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16D82"/>
                </a:solidFill>
                <a:latin typeface="Calibri"/>
              </a:rPr>
              <a:t>Schwab Internal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4ED8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1B3D"/>
                </a:solidFill>
                <a:latin typeface="Calibri"/>
              </a:rPr>
              <a:t>Notification Status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1E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92024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1">
                <a:solidFill>
                  <a:srgbClr val="1A2233"/>
                </a:solidFill>
              </a:rPr>
              <a:t>RECEIVED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737360"/>
            <a:ext cx="192024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1">
                <a:solidFill>
                  <a:srgbClr val="1A2233"/>
                </a:solidFill>
              </a:rPr>
              <a:t>VALIDATED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80" y="2057400"/>
            <a:ext cx="137160" cy="0"/>
          </a:xfrm>
          <a:prstGeom prst="bentConnector3">
            <a:avLst/>
          </a:prstGeom>
          <a:ln w="15875">
            <a:solidFill>
              <a:srgbClr val="616D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663440" y="1737360"/>
            <a:ext cx="192024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1">
                <a:solidFill>
                  <a:srgbClr val="1A2233"/>
                </a:solidFill>
              </a:rPr>
              <a:t>ROUTED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26280" y="2057400"/>
            <a:ext cx="137160" cy="0"/>
          </a:xfrm>
          <a:prstGeom prst="bentConnector3">
            <a:avLst/>
          </a:prstGeom>
          <a:ln w="15875">
            <a:solidFill>
              <a:srgbClr val="616D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20840" y="1737360"/>
            <a:ext cx="192024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1">
                <a:solidFill>
                  <a:srgbClr val="1A2233"/>
                </a:solidFill>
              </a:rPr>
              <a:t>QUEUED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0" y="2057400"/>
            <a:ext cx="137160" cy="0"/>
          </a:xfrm>
          <a:prstGeom prst="bentConnector3">
            <a:avLst/>
          </a:prstGeom>
          <a:ln w="15875">
            <a:solidFill>
              <a:srgbClr val="616D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778240" y="1737360"/>
            <a:ext cx="192024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1">
                <a:solidFill>
                  <a:srgbClr val="1A2233"/>
                </a:solidFill>
              </a:rPr>
              <a:t>IN_PROGRESS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41080" y="2057400"/>
            <a:ext cx="137160" cy="0"/>
          </a:xfrm>
          <a:prstGeom prst="bentConnector3">
            <a:avLst/>
          </a:prstGeom>
          <a:ln w="15875">
            <a:solidFill>
              <a:srgbClr val="616D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737360" y="3017520"/>
            <a:ext cx="2194560" cy="64008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1">
                <a:solidFill>
                  <a:srgbClr val="027A48"/>
                </a:solidFill>
              </a:rPr>
              <a:t>DELIVERED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3017520"/>
            <a:ext cx="2194560" cy="640080"/>
          </a:xfrm>
          <a:prstGeom prst="roundRect">
            <a:avLst>
              <a:gd name="adj" fmla="val 6000"/>
            </a:avLst>
          </a:prstGeom>
          <a:solidFill>
            <a:srgbClr val="FFFAEB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1">
                <a:solidFill>
                  <a:srgbClr val="B54708"/>
                </a:solidFill>
              </a:rPr>
              <a:t>PARTIALLY_DELIVERED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017520"/>
            <a:ext cx="2194560" cy="640080"/>
          </a:xfrm>
          <a:prstGeom prst="roundRect">
            <a:avLst>
              <a:gd name="adj" fmla="val 6000"/>
            </a:avLst>
          </a:prstGeom>
          <a:solidFill>
            <a:srgbClr val="FEF3F2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1">
                <a:solidFill>
                  <a:srgbClr val="D92D20"/>
                </a:solidFill>
              </a:rPr>
              <a:t>FAILED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017520"/>
            <a:ext cx="2194560" cy="640080"/>
          </a:xfrm>
          <a:prstGeom prst="roundRect">
            <a:avLst>
              <a:gd name="adj" fmla="val 6000"/>
            </a:avLst>
          </a:prstGeom>
          <a:solidFill>
            <a:srgbClr val="FEF3F2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1">
                <a:solidFill>
                  <a:srgbClr val="D92D20"/>
                </a:solidFill>
              </a:rPr>
              <a:t>ESCALATED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738360.0" y="2377440"/>
            <a:ext cx="0.0" cy="640080"/>
          </a:xfrm>
          <a:prstGeom prst="bentConnector3">
            <a:avLst/>
          </a:prstGeom>
          <a:ln w="15875">
            <a:solidFill>
              <a:srgbClr val="616D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3977639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F1B3D"/>
                </a:solidFill>
                <a:latin typeface="Calibri"/>
              </a:rPr>
              <a:t>Terminal side-states (from RECEIVED/VALIDATED):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97680"/>
            <a:ext cx="2377440" cy="548640"/>
          </a:xfrm>
          <a:prstGeom prst="roundRect">
            <a:avLst>
              <a:gd name="adj" fmla="val 6000"/>
            </a:avLst>
          </a:prstGeom>
          <a:solidFill>
            <a:srgbClr val="FEF3F2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D92D20"/>
                </a:solidFill>
              </a:rPr>
              <a:t>REJECTED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08960" y="4297680"/>
            <a:ext cx="2377440" cy="548640"/>
          </a:xfrm>
          <a:prstGeom prst="roundRect">
            <a:avLst>
              <a:gd name="adj" fmla="val 6000"/>
            </a:avLst>
          </a:prstGeom>
          <a:solidFill>
            <a:srgbClr val="FFFAEB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B54708"/>
                </a:solidFill>
              </a:rPr>
              <a:t>DUPLICATE_SUPPRESSED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0" y="4297680"/>
            <a:ext cx="2377440" cy="548640"/>
          </a:xfrm>
          <a:prstGeom prst="roundRect">
            <a:avLst>
              <a:gd name="adj" fmla="val 6000"/>
            </a:avLst>
          </a:prstGeom>
          <a:solidFill>
            <a:srgbClr val="FFFAEB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B54708"/>
                </a:solidFill>
              </a:rPr>
              <a:t>EXPIRED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20640"/>
            <a:ext cx="11064240" cy="9601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NotificationStatusAggregator recomputes DELIVERED / PARTIALLY_DELIVERED / FAILED / IN_PROGRESS live from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delivery_attempts after every outcome — and explicitly protects EXPIRED, REJECTED, and ESCALATED from being overwritten.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16D82"/>
                </a:solidFill>
                <a:latin typeface="Calibri"/>
              </a:rPr>
              <a:t>docs/architecture-overview.md §4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16D82"/>
                </a:solidFill>
                <a:latin typeface="Calibri"/>
              </a:rPr>
              <a:t>Schwab Internal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4ED8"/>
                </a:solidFill>
                <a:latin typeface="Calibri"/>
              </a:rPr>
              <a:t>SCENARIO 1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1B3D"/>
                </a:solidFill>
                <a:latin typeface="Calibri"/>
              </a:rPr>
              <a:t>Greenfield — Initial Capability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1E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371600" cy="411480"/>
          </a:xfrm>
          <a:prstGeom prst="roundRect">
            <a:avLst>
              <a:gd name="adj" fmla="val 6000"/>
            </a:avLst>
          </a:prstGeom>
          <a:solidFill>
            <a:srgbClr val="1E4ED8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577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1A2233"/>
                </a:solidFill>
                <a:latin typeface="Calibri"/>
              </a:rPr>
              <a:t>•  Decomposed into 6 units, built bottom-up: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616D82"/>
                </a:solidFill>
                <a:latin typeface="Calibri"/>
              </a:rPr>
              <a:t>-  Domain model -&gt; Submission+idempotency -&gt; Routing -&gt; Async queueing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616D82"/>
                </a:solidFill>
                <a:latin typeface="Calibri"/>
              </a:rPr>
              <a:t>-  -&gt; Delivery+retry -&gt; Status+audit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1A2233"/>
                </a:solidFill>
                <a:latin typeface="Calibri"/>
              </a:rPr>
              <a:t>•  Key decisions (documented, not assumed):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616D82"/>
                </a:solidFill>
                <a:latin typeface="Calibri"/>
              </a:rPr>
              <a:t>-  Routing: opt-out model; CRITICAL overrides preference &amp; fans out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616D82"/>
                </a:solidFill>
                <a:latin typeface="Calibri"/>
              </a:rPr>
              <a:t>-  Retry: 6 failure categories, only 3 retryable, exponential backoff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616D82"/>
                </a:solidFill>
                <a:latin typeface="Calibri"/>
              </a:rPr>
              <a:t>-  Dedup: DB unique constraint backs the boundary, not app logic alone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616D82"/>
                </a:solidFill>
                <a:latin typeface="Calibri"/>
              </a:rPr>
              <a:t>-  DB-polling worker over a broker — explicit trade-off for prototype scope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57400"/>
            <a:ext cx="5212080" cy="39319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402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B3D"/>
                </a:solidFill>
                <a:latin typeface="Calibri"/>
              </a:rPr>
              <a:t>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60604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233"/>
                </a:solidFill>
                <a:latin typeface="Calibri"/>
              </a:rPr>
              <a:t>•  49 unit tests — routing, retry, idempotency, aggregation,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616D82"/>
                </a:solidFill>
                <a:latin typeface="Calibri"/>
              </a:rPr>
              <a:t>-  dispatcher, all provider simulation rules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233"/>
                </a:solidFill>
                <a:latin typeface="Calibri"/>
              </a:rPr>
              <a:t>•  7 end-to-end integration tests over real HTTP + H2 + the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616D82"/>
                </a:solidFill>
                <a:latin typeface="Calibri"/>
              </a:rPr>
              <a:t>-  actual scheduled worker (Awaitility-driven)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>
                <a:solidFill>
                  <a:srgbClr val="1A2233"/>
                </a:solidFill>
                <a:latin typeface="Calibri"/>
              </a:rPr>
              <a:t>•  mvn verify: JaCoCo gate, 90% min on application/domain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4937760"/>
            <a:ext cx="4754880" cy="960120"/>
          </a:xfrm>
          <a:prstGeom prst="roundRect">
            <a:avLst>
              <a:gd name="adj" fmla="val 6000"/>
            </a:avLst>
          </a:prstGeom>
          <a:solidFill>
            <a:srgbClr val="FEF3F2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5029200"/>
            <a:ext cx="4389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D92D20"/>
                </a:solidFill>
                <a:latin typeface="Calibri"/>
              </a:rPr>
              <a:t>Real bug found &amp; fixed: @Transactional silently no-ops on self-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D92D20"/>
                </a:solidFill>
                <a:latin typeface="Calibri"/>
              </a:rPr>
              <a:t>invocation (this.method()) — caught by the integration test, fixed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D92D20"/>
                </a:solidFill>
                <a:latin typeface="Calibri"/>
              </a:rPr>
              <a:t>by splitting trigger from transactional collaborator.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16D82"/>
                </a:solidFill>
                <a:latin typeface="Calibri"/>
              </a:rPr>
              <a:t>docs/scenarios/01-greenfield.md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16D82"/>
                </a:solidFill>
                <a:latin typeface="Calibri"/>
              </a:rPr>
              <a:t>Schwab Internal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4ED8"/>
                </a:solidFill>
                <a:latin typeface="Calibri"/>
              </a:rPr>
              <a:t>SCENARIO 2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1B3D"/>
                </a:solidFill>
                <a:latin typeface="Calibri"/>
              </a:rPr>
              <a:t>Brownfield — Multi-Layer Enhancement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1E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737360" cy="411480"/>
          </a:xfrm>
          <a:prstGeom prst="roundRect">
            <a:avLst>
              <a:gd name="adj" fmla="val 6000"/>
            </a:avLst>
          </a:prstGeom>
          <a:solidFill>
            <a:srgbClr val="B54708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ENHANCE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16D82"/>
                </a:solidFill>
                <a:latin typeface="Calibri"/>
              </a:rPr>
              <a:t>Three changes landed together because they're genuinely coupled in this codebase: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361188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560320"/>
            <a:ext cx="3611880" cy="685800"/>
          </a:xfrm>
          <a:prstGeom prst="roundRect">
            <a:avLst/>
          </a:prstGeom>
          <a:solidFill>
            <a:srgbClr val="0F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New channel</a:t>
            </a:r>
          </a:p>
          <a:p>
            <a:pPr algn="ctr"/>
            <a:r>
              <a:rPr sz="1000">
                <a:solidFill>
                  <a:srgbClr val="9DB2F2"/>
                </a:solidFill>
              </a:rPr>
              <a:t>Slack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83280"/>
            <a:ext cx="3246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1A2233"/>
                </a:solidFill>
                <a:latin typeface="Calibri"/>
              </a:rPr>
              <a:t>•  Channel.SLACK + SlackChannelProvider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1A2233"/>
                </a:solidFill>
                <a:latin typeface="Calibri"/>
              </a:rPr>
              <a:t>•  V2 migration: seed data only —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1A2233"/>
                </a:solidFill>
                <a:latin typeface="Calibri"/>
              </a:rPr>
              <a:t>•  channel is VARCHAR everywhere,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1A2233"/>
                </a:solidFill>
                <a:latin typeface="Calibri"/>
              </a:rPr>
              <a:t>•  no schema change needed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60320"/>
            <a:ext cx="361188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80" y="2560320"/>
            <a:ext cx="3611880" cy="685800"/>
          </a:xfrm>
          <a:prstGeom prst="roundRect">
            <a:avLst/>
          </a:prstGeom>
          <a:solidFill>
            <a:srgbClr val="0F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Refactor</a:t>
            </a:r>
          </a:p>
          <a:p>
            <a:pPr algn="ctr"/>
            <a:r>
              <a:rPr sz="1000">
                <a:solidFill>
                  <a:srgbClr val="9DB2F2"/>
                </a:solidFill>
              </a:rPr>
              <a:t>Provider dispatch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383280"/>
            <a:ext cx="3246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1A2233"/>
                </a:solidFill>
                <a:latin typeface="Calibri"/>
              </a:rPr>
              <a:t>•  if/else chain -&gt; ChannelProviderRegistry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1A2233"/>
                </a:solidFill>
                <a:latin typeface="Calibri"/>
              </a:rPr>
              <a:t>•  (Strategy/Registry pattern)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1A2233"/>
                </a:solidFill>
                <a:latin typeface="Calibri"/>
              </a:rPr>
              <a:t>•  Adding Slack touched zero lines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1A2233"/>
                </a:solidFill>
                <a:latin typeface="Calibri"/>
              </a:rPr>
              <a:t>•  of the dispatch method itself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560320"/>
            <a:ext cx="361188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46720" y="2560320"/>
            <a:ext cx="3611880" cy="685800"/>
          </a:xfrm>
          <a:prstGeom prst="roundRect">
            <a:avLst/>
          </a:prstGeom>
          <a:solidFill>
            <a:srgbClr val="0F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Harden dedup</a:t>
            </a:r>
          </a:p>
          <a:p>
            <a:pPr algn="ctr"/>
            <a:r>
              <a:rPr sz="1000">
                <a:solidFill>
                  <a:srgbClr val="9DB2F2"/>
                </a:solidFill>
              </a:rPr>
              <a:t>Retention enforcement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383280"/>
            <a:ext cx="3246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1A2233"/>
                </a:solidFill>
                <a:latin typeface="Calibri"/>
              </a:rPr>
              <a:t>•  IdempotencyCleanupJob actually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1A2233"/>
                </a:solidFill>
                <a:latin typeface="Calibri"/>
              </a:rPr>
              <a:t>•  purges expired records now —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1A2233"/>
                </a:solidFill>
                <a:latin typeface="Calibri"/>
              </a:rPr>
              <a:t>•  policy was documented but never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1A2233"/>
                </a:solidFill>
                <a:latin typeface="Calibri"/>
              </a:rPr>
              <a:t>•  enforced in greenfield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852160"/>
            <a:ext cx="11064240" cy="64008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98932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27A48"/>
                </a:solidFill>
                <a:latin typeface="Calibri"/>
              </a:rPr>
              <a:t>Full regression: all greenfield tests pass unchanged — the refactor never touched RoutingService or NotificationSubmissionService.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16D82"/>
                </a:solidFill>
                <a:latin typeface="Calibri"/>
              </a:rPr>
              <a:t>docs/scenarios/02-brownfield.md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16D82"/>
                </a:solidFill>
                <a:latin typeface="Calibri"/>
              </a:rPr>
              <a:t>Schwab Internal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4ED8"/>
                </a:solidFill>
                <a:latin typeface="Calibri"/>
              </a:rPr>
              <a:t>SCENARIO 3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1B3D"/>
                </a:solidFill>
                <a:latin typeface="Calibri"/>
              </a:rPr>
              <a:t>Ambiguous Requirement — Escalation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1E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920240" cy="411480"/>
          </a:xfrm>
          <a:prstGeom prst="roundRect">
            <a:avLst>
              <a:gd name="adj" fmla="val 6000"/>
            </a:avLst>
          </a:prstGeom>
          <a:solidFill>
            <a:srgbClr val="D92D20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DISAMBIGUATE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B3D"/>
                </a:solidFill>
                <a:latin typeface="Calibri"/>
              </a:rPr>
              <a:t>The ask, as given: “For critical alerts, if nobody acknowledges it in time, make sure it gets escalated so it doesn't get missed.”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80360"/>
            <a:ext cx="110642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35224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4ED8"/>
                </a:solidFill>
                <a:latin typeface="Calibri"/>
              </a:rPr>
              <a:t>What does “acknowledged” mean?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935224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2233"/>
                </a:solidFill>
                <a:latin typeface="Calibri"/>
              </a:rPr>
              <a:t>Explicit POST /acknowledge action — never inferred from delivery success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30168"/>
            <a:ext cx="110642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685032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4ED8"/>
                </a:solidFill>
                <a:latin typeface="Calibri"/>
              </a:rPr>
              <a:t>How long is “in time”?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68503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2233"/>
                </a:solidFill>
                <a:latin typeface="Calibri"/>
              </a:rPr>
              <a:t>Configurable threshold (15 min default), CRITICAL-only this iteration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79976"/>
            <a:ext cx="110642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4ED8"/>
                </a:solidFill>
                <a:latin typeface="Calibri"/>
              </a:rPr>
              <a:t>Escalate to whom / how?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43484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2233"/>
                </a:solidFill>
                <a:latin typeface="Calibri"/>
              </a:rPr>
              <a:t>Reuses the existing delivery pipeline — same retry/audit guarantees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29784"/>
            <a:ext cx="110642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184648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4ED8"/>
                </a:solidFill>
                <a:latin typeface="Calibri"/>
              </a:rPr>
              <a:t>Does it repeat?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5184648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2233"/>
                </a:solidFill>
                <a:latin typeface="Calibri"/>
              </a:rPr>
              <a:t>No — fires once, by design, to avoid alert fatigue (documented scope cut)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9788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FEF3F2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9893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D92D20"/>
                </a:solidFill>
                <a:latin typeface="Calibri"/>
              </a:rPr>
              <a:t>Real concurrency bug surfaced: optimistic-lock races on the Notification row (routing + escalation writing concurrently).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D92D20"/>
                </a:solidFill>
                <a:latin typeface="Calibri"/>
              </a:rPr>
              <a:t>Fixed with bounded retry + per-notification transaction isolation — documented as a finding, not hidden.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16D82"/>
                </a:solidFill>
                <a:latin typeface="Calibri"/>
              </a:rPr>
              <a:t>docs/scenarios/03-ambiguous-requirements.md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16D82"/>
                </a:solidFill>
                <a:latin typeface="Calibri"/>
              </a:rPr>
              <a:t>Schwab Internal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4ED8"/>
                </a:solidFill>
                <a:latin typeface="Calibri"/>
              </a:rPr>
              <a:t>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1B3D"/>
                </a:solidFill>
                <a:latin typeface="Calibri"/>
              </a:rPr>
              <a:t>Testing, Coverage &amp; Validation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1E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69748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72768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027A48"/>
                </a:solidFill>
                <a:latin typeface="Calibri"/>
              </a:rPr>
              <a:t>76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16D82"/>
                </a:solidFill>
                <a:latin typeface="Calibri"/>
              </a:rPr>
              <a:t>Tests passing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508760"/>
            <a:ext cx="269748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572768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1E4ED8"/>
                </a:solidFill>
                <a:latin typeface="Calibri"/>
              </a:rPr>
              <a:t>96.4%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0574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16D82"/>
                </a:solidFill>
                <a:latin typeface="Calibri"/>
              </a:rPr>
              <a:t>Overall line coverage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508760"/>
            <a:ext cx="269748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572768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B54708"/>
                </a:solidFill>
                <a:latin typeface="Calibri"/>
              </a:rPr>
              <a:t>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0574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16D82"/>
                </a:solidFill>
                <a:latin typeface="Calibri"/>
              </a:rPr>
              <a:t>JaCoCo gate (app/domain)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1508760"/>
            <a:ext cx="269748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1572768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92D20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20574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16D82"/>
                </a:solidFill>
                <a:latin typeface="Calibri"/>
              </a:rPr>
              <a:t>Real bugs found &amp; fixed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697480"/>
            <a:ext cx="5394960" cy="338328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8346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B3D"/>
                </a:solidFill>
                <a:latin typeface="Calibri"/>
              </a:rPr>
              <a:t>Approach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20040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1A2233"/>
                </a:solidFill>
                <a:latin typeface="Calibri"/>
              </a:rPr>
              <a:t>•  Unit tests: no Spring context, Clock.fixed() for deterministic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616D82"/>
                </a:solidFill>
                <a:latin typeface="Calibri"/>
              </a:rPr>
              <a:t>-  timing — 65 tests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1A2233"/>
                </a:solidFill>
                <a:latin typeface="Calibri"/>
              </a:rPr>
              <a:t>•  Integration tests: real HTTP + H2 + Flyway + the actual scheduled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616D82"/>
                </a:solidFill>
                <a:latin typeface="Calibri"/>
              </a:rPr>
              <a:t>-  workers, Awaitility-polled — 11 tests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1A2233"/>
                </a:solidFill>
                <a:latin typeface="Calibri"/>
              </a:rPr>
              <a:t>•  Deterministic simulated providers (recipientId prefixes: flaky-,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616D82"/>
                </a:solidFill>
                <a:latin typeface="Calibri"/>
              </a:rPr>
              <a:t>-  timeout-, invalid-, ratelimit-, authfail-, reject-)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1A2233"/>
                </a:solidFill>
                <a:latin typeface="Calibri"/>
              </a:rPr>
              <a:t>•  Combined coverage measured across both JVMs (Surefire + Failsafe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616D82"/>
                </a:solidFill>
                <a:latin typeface="Calibri"/>
              </a:rPr>
              <a:t>-  both feed the same jacoco.exec)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2697480"/>
            <a:ext cx="553212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8346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B3D"/>
                </a:solidFill>
                <a:latin typeface="Calibri"/>
              </a:rPr>
              <a:t>Honest limitations (not hidden)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2004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1A2233"/>
                </a:solidFill>
                <a:latin typeface="Calibri"/>
              </a:rPr>
              <a:t>•  Simulated providers, not real SES/Twilio/FCM/Slack integrations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1A2233"/>
                </a:solidFill>
                <a:latin typeface="Calibri"/>
              </a:rPr>
              <a:t>•  No load/performance testing of the DB-polling worker's ceiling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1A2233"/>
                </a:solidFill>
                <a:latin typeface="Calibri"/>
              </a:rPr>
              <a:t>•  No AuthN/AuthZ — explicitly out of scope for this prototype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1A2233"/>
                </a:solidFill>
                <a:latin typeface="Calibri"/>
              </a:rPr>
              <a:t>•  Concurrency fixes validated against the specific races tests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616D82"/>
                </a:solidFill>
                <a:latin typeface="Calibri"/>
              </a:rPr>
              <a:t>-  produced, not an exhaustive chaos/fuzz pass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1A2233"/>
                </a:solidFill>
                <a:latin typeface="Calibri"/>
              </a:rPr>
              <a:t>•  api.exception package below 90% — one dead-code defensive</a:t>
            </a:r>
          </a:p>
          <a:p>
            <a:pPr marL="320040" indent="-182880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616D82"/>
                </a:solidFill>
                <a:latin typeface="Calibri"/>
              </a:rPr>
              <a:t>-  handler, explained rather than gamed for the metric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16D82"/>
                </a:solidFill>
                <a:latin typeface="Calibri"/>
              </a:rPr>
              <a:t>docs/testing-strategy.md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16D82"/>
                </a:solidFill>
                <a:latin typeface="Calibri"/>
              </a:rPr>
              <a:t>Schwab Internal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4ED8"/>
                </a:solidFill>
                <a:latin typeface="Calibri"/>
              </a:rPr>
              <a:t>DELIVERABLE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1B3D"/>
                </a:solidFill>
                <a:latin typeface="Calibri"/>
              </a:rPr>
              <a:t>UI/UX — Separate Project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1E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16D82"/>
                </a:solidFill>
                <a:latin typeface="Calibri"/>
              </a:rPr>
              <a:t>notification-management-ui — its own git repository, React 19 + TypeScript + Vite, talks to the backend over HTTP/CORS only.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3657600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3657600" cy="731520"/>
          </a:xfrm>
          <a:prstGeom prst="roundRect">
            <a:avLst/>
          </a:prstGeom>
          <a:solidFill>
            <a:srgbClr val="1E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Dashboard</a:t>
            </a:r>
          </a:p>
          <a:p>
            <a:pPr algn="ctr"/>
            <a:r>
              <a:rPr sz="1000">
                <a:solidFill>
                  <a:srgbClr val="CDD6EE"/>
                </a:solidFill>
              </a:rPr>
              <a:t>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3291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1A2233"/>
                </a:solidFill>
                <a:latin typeface="Calibri"/>
              </a:rPr>
              <a:t>•  Recent notifications, newest first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1A2233"/>
                </a:solidFill>
                <a:latin typeface="Calibri"/>
              </a:rPr>
              <a:t>•  Auto-refresh every 4s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1A2233"/>
                </a:solidFill>
                <a:latin typeface="Calibri"/>
              </a:rPr>
              <a:t>•  Status + severity badges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1A2233"/>
                </a:solidFill>
                <a:latin typeface="Calibri"/>
              </a:rPr>
              <a:t>•  Stat tiles (delivered / in-progress / failed)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03120"/>
            <a:ext cx="3657600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0" y="2103120"/>
            <a:ext cx="3657600" cy="731520"/>
          </a:xfrm>
          <a:prstGeom prst="roundRect">
            <a:avLst/>
          </a:prstGeom>
          <a:solidFill>
            <a:srgbClr val="1E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Submit</a:t>
            </a:r>
          </a:p>
          <a:p>
            <a:pPr algn="ctr"/>
            <a:r>
              <a:rPr sz="1000">
                <a:solidFill>
                  <a:srgbClr val="CDD6EE"/>
                </a:solidFill>
              </a:rPr>
              <a:t>/submit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971800"/>
            <a:ext cx="3291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1A2233"/>
                </a:solidFill>
                <a:latin typeface="Calibri"/>
              </a:rPr>
              <a:t>•  Full request shape: recipients,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1A2233"/>
                </a:solidFill>
                <a:latin typeface="Calibri"/>
              </a:rPr>
              <a:t>•  channels, idempotency key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1A2233"/>
                </a:solidFill>
                <a:latin typeface="Calibri"/>
              </a:rPr>
              <a:t>•  Demo recipient-id prefix cheat-sheet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1A2233"/>
                </a:solidFill>
                <a:latin typeface="Calibri"/>
              </a:rPr>
              <a:t>•  for exercising retry/failure paths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103120"/>
            <a:ext cx="3657600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8160" y="2103120"/>
            <a:ext cx="3657600" cy="731520"/>
          </a:xfrm>
          <a:prstGeom prst="roundRect">
            <a:avLst/>
          </a:prstGeom>
          <a:solidFill>
            <a:srgbClr val="1E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Detail</a:t>
            </a:r>
          </a:p>
          <a:p>
            <a:pPr algn="ctr"/>
            <a:r>
              <a:rPr sz="1000">
                <a:solidFill>
                  <a:srgbClr val="CDD6EE"/>
                </a:solidFill>
              </a:rPr>
              <a:t>/notifications/:id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971800"/>
            <a:ext cx="3291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1A2233"/>
                </a:solidFill>
                <a:latin typeface="Calibri"/>
              </a:rPr>
              <a:t>•  Live-polls every 2s until settled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1A2233"/>
                </a:solidFill>
                <a:latin typeface="Calibri"/>
              </a:rPr>
              <a:t>•  Per-recipient/per-channel delivery table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b="0">
                <a:solidFill>
                  <a:srgbClr val="1A2233"/>
                </a:solidFill>
                <a:latin typeface="Calibri"/>
              </a:rPr>
              <a:t>•  Acknowledge action (escalation scenario)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76072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89788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27A48"/>
                </a:solidFill>
                <a:latin typeface="Calibri"/>
              </a:rPr>
              <a:t>Verified end-to-end against a running backend: submit -&gt; async retry -&gt; DELIVERED, CRITICAL fan-out to all 4 channels,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027A48"/>
                </a:solidFill>
                <a:latin typeface="Calibri"/>
              </a:rPr>
              <a:t>acknowledge, and the dashboard list — via the exact HTTP requests the UI issues, including a live CORS preflight check.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16D82"/>
                </a:solidFill>
                <a:latin typeface="Calibri"/>
              </a:rPr>
              <a:t>notification-management-ui/README.md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16D82"/>
                </a:solidFill>
                <a:latin typeface="Calibri"/>
              </a:rPr>
              <a:t>Schwab Internal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4ED8"/>
                </a:solidFill>
                <a:latin typeface="Calibri"/>
              </a:rPr>
              <a:t>ENGINEERING JUDGMENT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1B3D"/>
                </a:solidFill>
                <a:latin typeface="Calibri"/>
              </a:rPr>
              <a:t>Trade-offs &amp; Production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1E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E4ED8"/>
                </a:solidFill>
                <a:latin typeface="Calibri"/>
              </a:rPr>
              <a:t>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5544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E4ED8"/>
                </a:solidFill>
                <a:latin typeface="Calibri"/>
              </a:rPr>
              <a:t>WHY (PROTOTYPE)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5544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E4ED8"/>
                </a:solidFill>
                <a:latin typeface="Calibri"/>
              </a:rPr>
              <a:t>PRODUCTION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20240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93392"/>
            <a:ext cx="2606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B3D"/>
                </a:solidFill>
                <a:latin typeface="Calibri"/>
              </a:rPr>
              <a:t>DB-polling worker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993392"/>
            <a:ext cx="3931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A2233"/>
                </a:solidFill>
                <a:latin typeface="Calibri"/>
              </a:rPr>
              <a:t>No broker infra to run/explain; fully testable with H2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1993392"/>
            <a:ext cx="397763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616D82"/>
                </a:solidFill>
                <a:latin typeface="Calibri"/>
              </a:rPr>
              <a:t>Swap to Kafka/SQS consumer — dispatch logic already isolated, zero business-logic change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816352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89504"/>
            <a:ext cx="2606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B3D"/>
                </a:solidFill>
                <a:latin typeface="Calibri"/>
              </a:rPr>
              <a:t>Simulated channel providers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889504"/>
            <a:ext cx="3931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A2233"/>
                </a:solidFill>
                <a:latin typeface="Calibri"/>
              </a:rPr>
              <a:t>CI-safe, deterministic, no external dependency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2889504"/>
            <a:ext cx="397763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616D82"/>
                </a:solidFill>
                <a:latin typeface="Calibri"/>
              </a:rPr>
              <a:t>Implement ChannelProvider for real SES/Twilio/FCM/Slack — one class each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12464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785616"/>
            <a:ext cx="2606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B3D"/>
                </a:solidFill>
                <a:latin typeface="Calibri"/>
              </a:rPr>
              <a:t>Single mutable Notification row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3785616"/>
            <a:ext cx="3931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A2233"/>
                </a:solidFill>
                <a:latin typeface="Calibri"/>
              </a:rPr>
              <a:t>Simple aggregate, one place to look up status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3785616"/>
            <a:ext cx="397763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616D82"/>
                </a:solidFill>
                <a:latin typeface="Calibri"/>
              </a:rPr>
              <a:t>Split volatile per-worker state into separate rows if contention grows at scale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608576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681728"/>
            <a:ext cx="2606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B3D"/>
                </a:solidFill>
                <a:latin typeface="Calibri"/>
              </a:rPr>
              <a:t>No AuthN/AuthZ in the prototype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4681728"/>
            <a:ext cx="3931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A2233"/>
                </a:solidFill>
                <a:latin typeface="Calibri"/>
              </a:rPr>
              <a:t>Keeps it standalone-runnable for 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4681728"/>
            <a:ext cx="397763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616D82"/>
                </a:solidFill>
                <a:latin typeface="Calibri"/>
              </a:rPr>
              <a:t>Front with the org's gateway / OAuth2 resource server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504688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577840"/>
            <a:ext cx="2606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B3D"/>
                </a:solidFill>
                <a:latin typeface="Calibri"/>
              </a:rPr>
              <a:t>Escalation fires once, no re-page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5577840"/>
            <a:ext cx="3931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A2233"/>
                </a:solidFill>
                <a:latin typeface="Calibri"/>
              </a:rPr>
              <a:t>Avoids alert fatigue by default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5577840"/>
            <a:ext cx="397763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616D82"/>
                </a:solidFill>
                <a:latin typeface="Calibri"/>
              </a:rPr>
              <a:t>On-call rotation / repeated paging integration is a scoped, flagged extension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16D82"/>
                </a:solidFill>
                <a:latin typeface="Calibri"/>
              </a:rPr>
              <a:t>docs/architecture-overview.md §6, §11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739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16D82"/>
                </a:solidFill>
                <a:latin typeface="Calibri"/>
              </a:rPr>
              <a:t>Schwab Internal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DB2F2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Three scenarios. One coherent, tested system.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9601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E4E9F7"/>
                </a:solidFill>
                <a:latin typeface="Calibri"/>
              </a:rPr>
              <a:t>•  Every functional requirement in section 4 implemented and tested, not just described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E4E9F7"/>
                </a:solidFill>
                <a:latin typeface="Calibri"/>
              </a:rPr>
              <a:t>•  Each design decision documented with its rationale — reviewable, not just asserted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E4E9F7"/>
                </a:solidFill>
                <a:latin typeface="Calibri"/>
              </a:rPr>
              <a:t>•  Two real bugs found by validation and fixed, with the finding kept in the docs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E4E9F7"/>
                </a:solidFill>
                <a:latin typeface="Calibri"/>
              </a:rPr>
              <a:t>•  Runnable end-to-end: backend, separate UI, full test suite, all in this repo pair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943600"/>
            <a:ext cx="10515600" cy="19050"/>
          </a:xfrm>
          <a:prstGeom prst="roundRect">
            <a:avLst>
              <a:gd name="adj" fmla="val 6000"/>
            </a:avLst>
          </a:prstGeom>
          <a:solidFill>
            <a:srgbClr val="2B3D73"/>
          </a:solidFill>
          <a:ln w="12700">
            <a:solidFill>
              <a:srgbClr val="2B3D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080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DB2F2"/>
                </a:solidFill>
                <a:latin typeface="Calibri"/>
              </a:rPr>
              <a:t>EXECUTION_GUIDE.md  ·  docs/architecture-overview.md  ·  docs/scenarios/  ·  docs/testing-strategy.md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